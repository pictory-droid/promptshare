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70" r:id="rId19"/>
  </p:sldIdLst>
  <p:sldSz cy="6858000" cx="12192000"/>
  <p:notesSz cx="6858000" cy="12192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?>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4" name="Google Shape;34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0" name="Google Shape;38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" name="Google Shape;4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6" name="Google Shape;46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6" name="Google Shape;52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7" name="Google Shape;52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9" name="Google Shape;56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0" name="Google Shape;57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0" name="Google Shape;74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1" name="Google Shape;741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45720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5720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45720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45720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192024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92024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192024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192024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192024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338328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338328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338328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338328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338328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484632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84632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484632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484632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484632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630936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630936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630936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630936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630936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777240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777240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77240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777240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77240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923544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923544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923544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923544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923544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10698480" y="27432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10698480" y="155448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698480" y="283464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0698480" y="411480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10698480" y="5394960"/>
            <a:ext cx="36576" cy="36576"/>
          </a:xfrm>
          <a:prstGeom prst="ellipse">
            <a:avLst/>
          </a:prstGeom>
          <a:solidFill>
            <a:srgbClr val="1E3A1E">
              <a:alpha val="60000"/>
            </a:srgbClr>
          </a:solidFill>
          <a:ln cap="flat" cmpd="sng" w="12700">
            <a:solidFill>
              <a:srgbClr val="1E3A1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914400" y="1463040"/>
            <a:ext cx="8229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7200"/>
              <a:buFont typeface="Arial Black"/>
              <a:buNone/>
            </a:pPr>
            <a:r>
              <a:rPr b="1" i="0" lang="en-US" sz="72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PromptLab</a:t>
            </a:r>
            <a:endParaRPr b="0" i="0" sz="7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914400" y="28346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프롬프트를 제대로 알면 AI 수준이 달라진다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914400" y="3474720"/>
            <a:ext cx="7315200" cy="274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914400" y="36576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PORTFOLIO  v2.0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914400" y="41605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작성일: 2026.04.19  |  작성자: 서인 (PICTORY-droid)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914400" y="4846320"/>
            <a:ext cx="2377440" cy="10972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914400" y="4937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사이트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914400" y="5257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promptlab.io.kr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0" y="4846320"/>
            <a:ext cx="2377440" cy="10972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3657600" y="4937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DB 글 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0" y="5257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976개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6400800" y="4846320"/>
            <a:ext cx="2377440" cy="10972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6400800" y="4937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6400800" y="5257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50,000개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9144000" y="4846320"/>
            <a:ext cx="2377440" cy="10972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9144000" y="493776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월 운영비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9144000" y="5257800"/>
            <a:ext cx="23774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365760" y="228600"/>
            <a:ext cx="2386584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"/>
          <p:cNvSpPr/>
          <p:nvPr/>
        </p:nvSpPr>
        <p:spPr>
          <a:xfrm>
            <a:off x="365760" y="228600"/>
            <a:ext cx="2386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TABLE OF CONTENTS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목차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65760" y="137160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65760" y="137160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02920" y="14447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1051560" y="14447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 개요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1051560" y="18105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PromptLab 소개, 브랜드 전환, 최종 목표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365760" y="237744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65760" y="237744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502920" y="245059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51560" y="2450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기술 스택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51560" y="2816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Next.js, Supabase, Vercel, Claude Code CLI 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365760" y="338328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365760" y="338328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02920" y="345643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51560" y="34564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시스템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1051560" y="3822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자동화 흐름 및 방문자 흐름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365760" y="438912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365760" y="438912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502920" y="44622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1051560" y="44622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구축 과정 A~Z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1051560" y="48280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개발환경, DB, 자동화, 기능 구현 전체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539496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4"/>
          <p:cNvSpPr/>
          <p:nvPr/>
        </p:nvSpPr>
        <p:spPr>
          <a:xfrm>
            <a:off x="365760" y="539496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02920" y="54681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1051560" y="54681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운영 가이드라인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4"/>
          <p:cNvSpPr/>
          <p:nvPr/>
        </p:nvSpPr>
        <p:spPr>
          <a:xfrm>
            <a:off x="1051560" y="58338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콘텐츠 규칙, 매일 루틴, 절대 금지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6217920" y="137160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6217920" y="137160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/>
          <p:nvPr/>
        </p:nvSpPr>
        <p:spPr>
          <a:xfrm>
            <a:off x="6355080" y="144475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6903720" y="14447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오류 해결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4"/>
          <p:cNvSpPr/>
          <p:nvPr/>
        </p:nvSpPr>
        <p:spPr>
          <a:xfrm>
            <a:off x="6903720" y="18105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발생 오류 8건 및 해결 과정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6217920" y="237744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"/>
          <p:cNvSpPr/>
          <p:nvPr/>
        </p:nvSpPr>
        <p:spPr>
          <a:xfrm>
            <a:off x="6217920" y="237744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6355080" y="245059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07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6903720" y="24505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루틴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6903720" y="281635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3세션 자동화 루틴 설정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6217920" y="338328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6217920" y="338328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6355080" y="345643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08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6903720" y="34564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도메인 변경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903720" y="382219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promptlab.io.kr 설정 과정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6217920" y="438912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217920" y="438912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6355080" y="446227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903720" y="44622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현황 및 로드맵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6903720" y="482803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현재 상태, 향후 계획, 수익화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6217920" y="5394960"/>
            <a:ext cx="5486400" cy="868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6217920" y="5394960"/>
            <a:ext cx="45720" cy="86868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6355080" y="5468112"/>
            <a:ext cx="5486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10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6903720" y="546811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보안 정보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6903720" y="5833872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계정, API 키, 접속 링크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5"/>
          <p:cNvSpPr/>
          <p:nvPr/>
        </p:nvSpPr>
        <p:spPr>
          <a:xfrm>
            <a:off x="365760" y="228600"/>
            <a:ext cx="1673352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365760" y="228600"/>
            <a:ext cx="167335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프로젝트 개요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PromptLab이란?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365750" y="1280146"/>
            <a:ext cx="5669400" cy="48195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502920" y="1417320"/>
            <a:ext cx="5394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AI 프롬프트 학습 플랫폼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02920" y="1920240"/>
            <a:ext cx="53949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PromptLab</a:t>
            </a: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(구 PromptShare)은 다양한 직종·산업·세대에 맞는 실용적인 AI 프롬프트를 큐레이션하여 제공하는 학습 플랫폼입니다.</a:t>
            </a:r>
            <a:b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AI를 제대로 활용하려면 좋은 프롬프트가 필요하지만 대부분의 사람들은 어떻게 작성해야 할지 모릅니다. 이 문제를 해결하기 위해 다양한 상황에 맞는 프롬프트를 제공하는 플랫폼을 구축했습니다.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502920" y="3749040"/>
            <a:ext cx="5394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최종 목표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502920" y="4114800"/>
            <a:ext cx="53949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프롬프트 5만 개 → 국내 최대 AI 프롬프트 라이브러리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3,000개 → 프롬프트 자동 완성기 배포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10,000개 → 구글 로그인 + My Lab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수익화: 광고 → API 판매 → 프리미엄 구독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6365948" y="1952610"/>
            <a:ext cx="5486400" cy="34746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6503108" y="2089770"/>
            <a:ext cx="521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브랜드 전환 (2026.04.19)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6503095" y="2546970"/>
            <a:ext cx="5212200" cy="3201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6503108" y="2546970"/>
            <a:ext cx="1280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항목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7783268" y="2546970"/>
            <a:ext cx="1920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변경 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9703508" y="2546970"/>
            <a:ext cx="2011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변경 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6503095" y="2912730"/>
            <a:ext cx="5212200" cy="3201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6548827" y="2912730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브랜드명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7783268" y="2912730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PromptShare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9703495" y="2912730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PromptLab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6503095" y="3260202"/>
            <a:ext cx="5212200" cy="3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6548827" y="3260202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슬로건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783268" y="3260202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공유하고 발견하세요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9703508" y="3260202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AI 수준이 달라진다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503095" y="3607674"/>
            <a:ext cx="5212200" cy="3201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548827" y="3607674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사이트 성격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783268" y="3607674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공유 커뮤니티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9703508" y="3607674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학습 플랫폼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503095" y="3955146"/>
            <a:ext cx="5212200" cy="3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548827" y="3955146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작성자명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783268" y="3955146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각각 다른 닉네임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9703508" y="3955146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PromptLab 통일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6503095" y="4302618"/>
            <a:ext cx="5212200" cy="3201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6548827" y="4302618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외부 글 작성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783268" y="4302618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누구나 가능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9703508" y="4302618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불가 (관리자 전용)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503095" y="4650090"/>
            <a:ext cx="5212200" cy="3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548827" y="4650090"/>
            <a:ext cx="12345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날짜 표시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7783268" y="4650090"/>
            <a:ext cx="1874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표시됨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703508" y="4650090"/>
            <a:ext cx="19659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제거 (상품성 유지)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365760" y="228600"/>
            <a:ext cx="1435608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65760" y="228600"/>
            <a:ext cx="14356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기술 스택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기술 스택  —  월 운영비 0원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모든 도구가 무료로 운영됩니다. Claude Code CLI만 Pro 플랜 사용.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365760" y="150876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365760" y="150876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530352" y="15819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Next.js + TypeScript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530352" y="19476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웹사이트 화면 프레임워크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114800" y="176479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114800" y="17647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263640" y="150876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6263640" y="150876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428232" y="158191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Supabase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428232" y="194767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데이터베이스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10012680" y="176479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6"/>
          <p:cNvSpPr/>
          <p:nvPr/>
        </p:nvSpPr>
        <p:spPr>
          <a:xfrm>
            <a:off x="10012680" y="176479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65760" y="246888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365760" y="246888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6"/>
          <p:cNvSpPr/>
          <p:nvPr/>
        </p:nvSpPr>
        <p:spPr>
          <a:xfrm>
            <a:off x="530352" y="25420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530352" y="29077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배포 서버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4114800" y="272491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4114800" y="272491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6263640" y="246888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6263640" y="246888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6428232" y="254203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Tailwind CSS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6428232" y="290779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UI 스타일링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10012680" y="272491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10012680" y="272491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65760" y="342900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365760" y="342900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30352" y="3502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 (Private)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30352" y="3867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코드 저장소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4114800" y="368503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4114800" y="36850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6263640" y="342900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6263640" y="342900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6428232" y="350215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6428232" y="38679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자동화 스케줄러 (중지)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10012680" y="368503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10012680" y="368503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6"/>
          <p:cNvSpPr/>
          <p:nvPr/>
        </p:nvSpPr>
        <p:spPr>
          <a:xfrm>
            <a:off x="365760" y="438912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365760" y="438912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530352" y="44622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Claude Code CLI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530352" y="4828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 코드 에디터 (신규)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6"/>
          <p:cNvSpPr/>
          <p:nvPr/>
        </p:nvSpPr>
        <p:spPr>
          <a:xfrm>
            <a:off x="4114800" y="464515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3A1A00"/>
          </a:solidFill>
          <a:ln cap="flat" cmpd="sng" w="12700">
            <a:solidFill>
              <a:srgbClr val="3A1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6"/>
          <p:cNvSpPr/>
          <p:nvPr/>
        </p:nvSpPr>
        <p:spPr>
          <a:xfrm>
            <a:off x="4114800" y="464515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Pro 플랜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6"/>
          <p:cNvSpPr/>
          <p:nvPr/>
        </p:nvSpPr>
        <p:spPr>
          <a:xfrm>
            <a:off x="6263640" y="438912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6"/>
          <p:cNvSpPr/>
          <p:nvPr/>
        </p:nvSpPr>
        <p:spPr>
          <a:xfrm>
            <a:off x="6263640" y="438912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6428232" y="446227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Gemini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6428232" y="482803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자동 생성 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6"/>
          <p:cNvSpPr/>
          <p:nvPr/>
        </p:nvSpPr>
        <p:spPr>
          <a:xfrm>
            <a:off x="10012680" y="464515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3A1A00"/>
          </a:solidFill>
          <a:ln cap="flat" cmpd="sng" w="12700">
            <a:solidFill>
              <a:srgbClr val="3A1A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6"/>
          <p:cNvSpPr/>
          <p:nvPr/>
        </p:nvSpPr>
        <p:spPr>
          <a:xfrm>
            <a:off x="10012680" y="464515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무료 (1,500회/일)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6"/>
          <p:cNvSpPr/>
          <p:nvPr/>
        </p:nvSpPr>
        <p:spPr>
          <a:xfrm>
            <a:off x="365760" y="534924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6"/>
          <p:cNvSpPr/>
          <p:nvPr/>
        </p:nvSpPr>
        <p:spPr>
          <a:xfrm>
            <a:off x="365760" y="534924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6"/>
          <p:cNvSpPr/>
          <p:nvPr/>
        </p:nvSpPr>
        <p:spPr>
          <a:xfrm>
            <a:off x="530352" y="54223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Google Analytics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6"/>
          <p:cNvSpPr/>
          <p:nvPr/>
        </p:nvSpPr>
        <p:spPr>
          <a:xfrm>
            <a:off x="530352" y="5788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방문자 통계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6"/>
          <p:cNvSpPr/>
          <p:nvPr/>
        </p:nvSpPr>
        <p:spPr>
          <a:xfrm>
            <a:off x="4114800" y="560527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6"/>
          <p:cNvSpPr/>
          <p:nvPr/>
        </p:nvSpPr>
        <p:spPr>
          <a:xfrm>
            <a:off x="4114800" y="560527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6"/>
          <p:cNvSpPr/>
          <p:nvPr/>
        </p:nvSpPr>
        <p:spPr>
          <a:xfrm>
            <a:off x="6263640" y="5349240"/>
            <a:ext cx="5577840" cy="841248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6"/>
          <p:cNvSpPr/>
          <p:nvPr/>
        </p:nvSpPr>
        <p:spPr>
          <a:xfrm>
            <a:off x="6263640" y="5349240"/>
            <a:ext cx="45720" cy="841248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6"/>
          <p:cNvSpPr/>
          <p:nvPr/>
        </p:nvSpPr>
        <p:spPr>
          <a:xfrm>
            <a:off x="6428232" y="5422392"/>
            <a:ext cx="3200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카카오 공유 API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"/>
          <p:cNvSpPr/>
          <p:nvPr/>
        </p:nvSpPr>
        <p:spPr>
          <a:xfrm>
            <a:off x="6428232" y="578815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카카오톡 공유 (신규)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6"/>
          <p:cNvSpPr/>
          <p:nvPr/>
        </p:nvSpPr>
        <p:spPr>
          <a:xfrm>
            <a:off x="10012680" y="5605272"/>
            <a:ext cx="1600200" cy="274320"/>
          </a:xfrm>
          <a:prstGeom prst="roundRect">
            <a:avLst>
              <a:gd fmla="val 16667" name="adj"/>
            </a:avLst>
          </a:prstGeom>
          <a:solidFill>
            <a:srgbClr val="1A3A1A"/>
          </a:solidFill>
          <a:ln cap="flat" cmpd="sng" w="12700">
            <a:solidFill>
              <a:srgbClr val="1A3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"/>
          <p:cNvSpPr/>
          <p:nvPr/>
        </p:nvSpPr>
        <p:spPr>
          <a:xfrm>
            <a:off x="10012680" y="5605272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무료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7"/>
          <p:cNvSpPr/>
          <p:nvPr/>
        </p:nvSpPr>
        <p:spPr>
          <a:xfrm>
            <a:off x="365760" y="228600"/>
            <a:ext cx="1554480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7"/>
          <p:cNvSpPr/>
          <p:nvPr/>
        </p:nvSpPr>
        <p:spPr>
          <a:xfrm>
            <a:off x="365760" y="228600"/>
            <a:ext cx="15544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시스템 구조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시스템 구조 (아키텍처)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365760" y="1371600"/>
            <a:ext cx="5303520" cy="25603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365760" y="1371600"/>
            <a:ext cx="5303520" cy="41148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"/>
          <p:cNvSpPr/>
          <p:nvPr/>
        </p:nvSpPr>
        <p:spPr>
          <a:xfrm>
            <a:off x="502920" y="1371600"/>
            <a:ext cx="51206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기존 방식 — GitHub Actions (중지됨)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548640" y="1874520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매일 오후 9시 (KST)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548640" y="2258568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  GitHub Actions 서버 실행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548640" y="2642616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  Gemini AI API 호출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548640" y="3026664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  프롬프트 50개 자동 생성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548640" y="3410712"/>
            <a:ext cx="49377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→  Supabase DB 자동 저장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5943600" y="1371600"/>
            <a:ext cx="5852160" cy="25603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080750" y="1371600"/>
            <a:ext cx="5577900" cy="411600"/>
          </a:xfrm>
          <a:prstGeom prst="rect">
            <a:avLst/>
          </a:prstGeom>
          <a:solidFill>
            <a:srgbClr val="1A2E1A"/>
          </a:solidFill>
          <a:ln cap="flat" cmpd="sng" w="12700">
            <a:solidFill>
              <a:srgbClr val="2EA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080760" y="137160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현재 방식 — Claude Code 루틴 자동화 ✓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080760" y="1874520"/>
            <a:ext cx="5577840" cy="594360"/>
          </a:xfrm>
          <a:prstGeom prst="rect">
            <a:avLst/>
          </a:prstGeom>
          <a:solidFill>
            <a:srgbClr val="0D2B0D"/>
          </a:solidFill>
          <a:ln cap="flat" cmpd="sng" w="9525">
            <a:solidFill>
              <a:srgbClr val="2EA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7"/>
          <p:cNvSpPr/>
          <p:nvPr/>
        </p:nvSpPr>
        <p:spPr>
          <a:xfrm>
            <a:off x="6217920" y="1920240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세션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7"/>
          <p:cNvSpPr/>
          <p:nvPr/>
        </p:nvSpPr>
        <p:spPr>
          <a:xfrm>
            <a:off x="7269480" y="1920240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오전 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217920" y="2176272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기존 글 10개 전면 재작성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080760" y="2587752"/>
            <a:ext cx="5577840" cy="594360"/>
          </a:xfrm>
          <a:prstGeom prst="rect">
            <a:avLst/>
          </a:prstGeom>
          <a:solidFill>
            <a:srgbClr val="0D2B0D"/>
          </a:solidFill>
          <a:ln cap="flat" cmpd="sng" w="9525">
            <a:solidFill>
              <a:srgbClr val="2EA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217920" y="2633472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세션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7269480" y="263347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오후 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217920" y="2889504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기존 글 10개 전면 재작성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7"/>
          <p:cNvSpPr/>
          <p:nvPr/>
        </p:nvSpPr>
        <p:spPr>
          <a:xfrm>
            <a:off x="6080760" y="3300984"/>
            <a:ext cx="5577840" cy="594360"/>
          </a:xfrm>
          <a:prstGeom prst="rect">
            <a:avLst/>
          </a:prstGeom>
          <a:solidFill>
            <a:srgbClr val="0D2B0D"/>
          </a:solidFill>
          <a:ln cap="flat" cmpd="sng" w="9525">
            <a:solidFill>
              <a:srgbClr val="2EA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7"/>
          <p:cNvSpPr/>
          <p:nvPr/>
        </p:nvSpPr>
        <p:spPr>
          <a:xfrm>
            <a:off x="6217920" y="3346704"/>
            <a:ext cx="1097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세션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7269480" y="3346704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오후 5:00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6217920" y="3602736"/>
            <a:ext cx="53035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새 글 20개 작성 + INSERT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365760" y="4114800"/>
            <a:ext cx="11430000" cy="16459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"/>
          <p:cNvSpPr/>
          <p:nvPr/>
        </p:nvSpPr>
        <p:spPr>
          <a:xfrm>
            <a:off x="548640" y="42062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방문자 흐름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5486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7"/>
          <p:cNvSpPr/>
          <p:nvPr/>
        </p:nvSpPr>
        <p:spPr>
          <a:xfrm>
            <a:off x="5486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방문자 접속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7"/>
          <p:cNvSpPr/>
          <p:nvPr/>
        </p:nvSpPr>
        <p:spPr>
          <a:xfrm>
            <a:off x="18527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7"/>
          <p:cNvSpPr/>
          <p:nvPr/>
        </p:nvSpPr>
        <p:spPr>
          <a:xfrm>
            <a:off x="21488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7"/>
          <p:cNvSpPr/>
          <p:nvPr/>
        </p:nvSpPr>
        <p:spPr>
          <a:xfrm>
            <a:off x="21488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Vercel (Next.js)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7"/>
          <p:cNvSpPr/>
          <p:nvPr/>
        </p:nvSpPr>
        <p:spPr>
          <a:xfrm>
            <a:off x="34529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7"/>
          <p:cNvSpPr/>
          <p:nvPr/>
        </p:nvSpPr>
        <p:spPr>
          <a:xfrm>
            <a:off x="37490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7"/>
          <p:cNvSpPr/>
          <p:nvPr/>
        </p:nvSpPr>
        <p:spPr>
          <a:xfrm>
            <a:off x="37490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Supabase 데이터 로드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7"/>
          <p:cNvSpPr/>
          <p:nvPr/>
        </p:nvSpPr>
        <p:spPr>
          <a:xfrm>
            <a:off x="50531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7"/>
          <p:cNvSpPr/>
          <p:nvPr/>
        </p:nvSpPr>
        <p:spPr>
          <a:xfrm>
            <a:off x="53492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7"/>
          <p:cNvSpPr/>
          <p:nvPr/>
        </p:nvSpPr>
        <p:spPr>
          <a:xfrm>
            <a:off x="53492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카테고리/검색 필터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7"/>
          <p:cNvSpPr/>
          <p:nvPr/>
        </p:nvSpPr>
        <p:spPr>
          <a:xfrm>
            <a:off x="66533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7"/>
          <p:cNvSpPr/>
          <p:nvPr/>
        </p:nvSpPr>
        <p:spPr>
          <a:xfrm>
            <a:off x="69494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7"/>
          <p:cNvSpPr/>
          <p:nvPr/>
        </p:nvSpPr>
        <p:spPr>
          <a:xfrm>
            <a:off x="69494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프롬프트 상세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7"/>
          <p:cNvSpPr/>
          <p:nvPr/>
        </p:nvSpPr>
        <p:spPr>
          <a:xfrm>
            <a:off x="82535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7"/>
          <p:cNvSpPr/>
          <p:nvPr/>
        </p:nvSpPr>
        <p:spPr>
          <a:xfrm>
            <a:off x="85496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"/>
          <p:cNvSpPr/>
          <p:nvPr/>
        </p:nvSpPr>
        <p:spPr>
          <a:xfrm>
            <a:off x="85496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복사/공유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7"/>
          <p:cNvSpPr/>
          <p:nvPr/>
        </p:nvSpPr>
        <p:spPr>
          <a:xfrm>
            <a:off x="9853792" y="4663440"/>
            <a:ext cx="1830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7"/>
          <p:cNvSpPr/>
          <p:nvPr/>
        </p:nvSpPr>
        <p:spPr>
          <a:xfrm>
            <a:off x="10149840" y="4663440"/>
            <a:ext cx="1417320" cy="640080"/>
          </a:xfrm>
          <a:prstGeom prst="roundRect">
            <a:avLst>
              <a:gd fmla="val 11429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7"/>
          <p:cNvSpPr/>
          <p:nvPr/>
        </p:nvSpPr>
        <p:spPr>
          <a:xfrm>
            <a:off x="10149840" y="4663440"/>
            <a:ext cx="1417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 기록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8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구축 과정 A~Z  (1/3)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개발 환경 · GitHub · Supabase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365750" y="1371600"/>
            <a:ext cx="3474600" cy="30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502920" y="14630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개발 환경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8640" y="192024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Windows 10/11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2651760" y="1920240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개발 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8"/>
          <p:cNvSpPr/>
          <p:nvPr/>
        </p:nvSpPr>
        <p:spPr>
          <a:xfrm>
            <a:off x="548640" y="224942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Git Bash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2651760" y="2249424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터미널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48640" y="257860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VS Code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8"/>
          <p:cNvSpPr/>
          <p:nvPr/>
        </p:nvSpPr>
        <p:spPr>
          <a:xfrm>
            <a:off x="2651760" y="2578608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코드 에디터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8640" y="290779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Node.js LTS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2651760" y="2907792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실행 환경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8"/>
          <p:cNvSpPr/>
          <p:nvPr/>
        </p:nvSpPr>
        <p:spPr>
          <a:xfrm>
            <a:off x="548640" y="32369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 xml:space="preserve">Claude Code CLI v2.1.114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8"/>
          <p:cNvSpPr/>
          <p:nvPr/>
        </p:nvSpPr>
        <p:spPr>
          <a:xfrm>
            <a:off x="2651760" y="3236976"/>
            <a:ext cx="10972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AI 코드 에디터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8"/>
          <p:cNvSpPr/>
          <p:nvPr/>
        </p:nvSpPr>
        <p:spPr>
          <a:xfrm>
            <a:off x="4023347" y="1371600"/>
            <a:ext cx="3840600" cy="30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8"/>
          <p:cNvSpPr/>
          <p:nvPr/>
        </p:nvSpPr>
        <p:spPr>
          <a:xfrm>
            <a:off x="4160520" y="1463040"/>
            <a:ext cx="35661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GitHub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8"/>
          <p:cNvSpPr/>
          <p:nvPr/>
        </p:nvSpPr>
        <p:spPr>
          <a:xfrm>
            <a:off x="4160520" y="1874520"/>
            <a:ext cx="35661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레포지터리: PICTORY-droid/promptshare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Public → Private 전환 (자동화 코드 보호)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 Secrets: GEMINI_API_KEY, SUPABASE_URL, SUPABASE_KEY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PAT: repo + workflow 권한 발급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Claude GitHub 앱 설치 (루틴 연동용)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8"/>
          <p:cNvSpPr/>
          <p:nvPr/>
        </p:nvSpPr>
        <p:spPr>
          <a:xfrm>
            <a:off x="8046703" y="1371600"/>
            <a:ext cx="3749100" cy="3020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8"/>
          <p:cNvSpPr/>
          <p:nvPr/>
        </p:nvSpPr>
        <p:spPr>
          <a:xfrm>
            <a:off x="8183880" y="146304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Supabase DB 구조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8"/>
          <p:cNvSpPr/>
          <p:nvPr/>
        </p:nvSpPr>
        <p:spPr>
          <a:xfrm>
            <a:off x="8183875" y="1874527"/>
            <a:ext cx="3474600" cy="251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id (UUID)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title, description, content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category (22개)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author_name (PromptLab)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views / likes / dislikes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shares (신규)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last_auto_update (신규)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password / created_at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8"/>
          <p:cNvSpPr/>
          <p:nvPr/>
        </p:nvSpPr>
        <p:spPr>
          <a:xfrm>
            <a:off x="365760" y="4587391"/>
            <a:ext cx="11430000" cy="192030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8"/>
          <p:cNvSpPr/>
          <p:nvPr/>
        </p:nvSpPr>
        <p:spPr>
          <a:xfrm>
            <a:off x="365760" y="4587391"/>
            <a:ext cx="11430000" cy="3201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8"/>
          <p:cNvSpPr/>
          <p:nvPr/>
        </p:nvSpPr>
        <p:spPr>
          <a:xfrm>
            <a:off x="548640" y="4587391"/>
            <a:ext cx="45720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주요 SQL 작업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8"/>
          <p:cNvSpPr/>
          <p:nvPr/>
        </p:nvSpPr>
        <p:spPr>
          <a:xfrm>
            <a:off x="640080" y="4998871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prompts ADD COLUMN dislikes INTEGER DEFAULT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8"/>
          <p:cNvSpPr/>
          <p:nvPr/>
        </p:nvSpPr>
        <p:spPr>
          <a:xfrm>
            <a:off x="640080" y="5346343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ALTER TABLE prompts ADD COLUMN shares INTEGER DEFAULT 0;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8"/>
          <p:cNvSpPr/>
          <p:nvPr/>
        </p:nvSpPr>
        <p:spPr>
          <a:xfrm>
            <a:off x="640080" y="5693815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UPDATE prompts SET author_name = 'PromptLab' WHERE password = '0520';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8"/>
          <p:cNvSpPr/>
          <p:nvPr/>
        </p:nvSpPr>
        <p:spPr>
          <a:xfrm>
            <a:off x="640080" y="6041287"/>
            <a:ext cx="10972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SELECT COUNT(*) FROM prompts WHERE last_auto_update IS NULL;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9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9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구축 과정 A~Z  (2/3)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9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자동화 · Claude Code CLI · 기능 구현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9"/>
          <p:cNvSpPr/>
          <p:nvPr/>
        </p:nvSpPr>
        <p:spPr>
          <a:xfrm>
            <a:off x="365760" y="1371600"/>
            <a:ext cx="5303520" cy="23774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9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GitHub Actions + Gemini API (중지)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9"/>
          <p:cNvSpPr/>
          <p:nvPr/>
        </p:nvSpPr>
        <p:spPr>
          <a:xfrm>
            <a:off x="548640" y="1901952"/>
            <a:ext cx="493776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.github/workflows/generate.yml → cron 스케줄러</a:t>
            </a:r>
            <a:b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scripts/generate_prompts.py → 글 생성 코드</a:t>
            </a:r>
            <a:b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7개 축 랜덤 조합 (카테고리+직종+세대+지역+규모+성별+경력)</a:t>
            </a:r>
            <a:b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키워드 3개 이상 겹치면 재생성</a:t>
            </a:r>
            <a:b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6E7681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6E7681"/>
                </a:solidFill>
                <a:latin typeface="Calibri"/>
                <a:ea typeface="Calibri"/>
                <a:cs typeface="Calibri"/>
                <a:sym typeface="Calibri"/>
              </a:rPr>
              <a:t>하루 50개 자동 생성 → 현재 중지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9"/>
          <p:cNvSpPr/>
          <p:nvPr/>
        </p:nvSpPr>
        <p:spPr>
          <a:xfrm>
            <a:off x="5943600" y="1371600"/>
            <a:ext cx="5852160" cy="23774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9"/>
          <p:cNvSpPr/>
          <p:nvPr/>
        </p:nvSpPr>
        <p:spPr>
          <a:xfrm>
            <a:off x="5943600" y="1371600"/>
            <a:ext cx="5852160" cy="411480"/>
          </a:xfrm>
          <a:prstGeom prst="rect">
            <a:avLst/>
          </a:prstGeom>
          <a:solidFill>
            <a:srgbClr val="1A2E1A"/>
          </a:solidFill>
          <a:ln cap="flat" cmpd="sng" w="12700">
            <a:solidFill>
              <a:srgbClr val="2EA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9"/>
          <p:cNvSpPr/>
          <p:nvPr/>
        </p:nvSpPr>
        <p:spPr>
          <a:xfrm>
            <a:off x="6080760" y="137160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Claude Code CLI 도입 (신규 ✓)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9"/>
          <p:cNvSpPr/>
          <p:nvPr/>
        </p:nvSpPr>
        <p:spPr>
          <a:xfrm>
            <a:off x="6126480" y="187452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npm install -g @anthropic-ai/claude-code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9"/>
          <p:cNvSpPr/>
          <p:nvPr/>
        </p:nvSpPr>
        <p:spPr>
          <a:xfrm>
            <a:off x="6126480" y="219456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ourier New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ourier New"/>
                <a:ea typeface="Courier New"/>
                <a:cs typeface="Courier New"/>
                <a:sym typeface="Courier New"/>
              </a:rPr>
              <a:t>cd C:/Desktop/vibe/[프로젝트명] &amp;&amp; claude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9"/>
          <p:cNvSpPr/>
          <p:nvPr/>
        </p:nvSpPr>
        <p:spPr>
          <a:xfrm>
            <a:off x="6126480" y="2560320"/>
            <a:ext cx="5486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토큰 절약: 작업 전환 시 /clear 필수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파일 지정해서 읽기 (전체 스캔 금지)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한 번에 하나씩 작업 원칙</a:t>
            </a:r>
            <a:b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Char char="•"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Claude Code Routines로 완전 자동화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9"/>
          <p:cNvSpPr/>
          <p:nvPr/>
        </p:nvSpPr>
        <p:spPr>
          <a:xfrm>
            <a:off x="365760" y="3931920"/>
            <a:ext cx="11430000" cy="18288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9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주요 기능 구현 (2026.04.19)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/>
          <p:nvPr/>
        </p:nvSpPr>
        <p:spPr>
          <a:xfrm>
            <a:off x="548640" y="4434840"/>
            <a:ext cx="210312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9"/>
          <p:cNvSpPr/>
          <p:nvPr/>
        </p:nvSpPr>
        <p:spPr>
          <a:xfrm>
            <a:off x="640080" y="4480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카테고리 22개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9"/>
          <p:cNvSpPr/>
          <p:nvPr/>
        </p:nvSpPr>
        <p:spPr>
          <a:xfrm>
            <a:off x="640080" y="4846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7개에서 확장. 데스크탑/모바일 드롭다운 통일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2807208" y="4434840"/>
            <a:ext cx="210312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2898648" y="4480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공유하기 기능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2898648" y="4846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7개 SNS + OG 메타태그 + 카카오 API + 출처 태그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9"/>
          <p:cNvSpPr/>
          <p:nvPr/>
        </p:nvSpPr>
        <p:spPr>
          <a:xfrm>
            <a:off x="5065776" y="4434840"/>
            <a:ext cx="210312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9"/>
          <p:cNvSpPr/>
          <p:nvPr/>
        </p:nvSpPr>
        <p:spPr>
          <a:xfrm>
            <a:off x="5157216" y="4480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날짜 표시 제거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9"/>
          <p:cNvSpPr/>
          <p:nvPr/>
        </p:nvSpPr>
        <p:spPr>
          <a:xfrm>
            <a:off x="5157216" y="4846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상품성 유지. created_at은 정렬용으로만 활용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7324344" y="4434840"/>
            <a:ext cx="210312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7415784" y="4480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인기순 정렬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7415784" y="4846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최신순/인기순 탭 추가. views 기준 내림차순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9"/>
          <p:cNvSpPr/>
          <p:nvPr/>
        </p:nvSpPr>
        <p:spPr>
          <a:xfrm>
            <a:off x="9582912" y="4434840"/>
            <a:ext cx="2103120" cy="1143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9"/>
          <p:cNvSpPr/>
          <p:nvPr/>
        </p:nvSpPr>
        <p:spPr>
          <a:xfrm>
            <a:off x="9674352" y="4480560"/>
            <a:ext cx="19202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스캔라인 슬로건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9"/>
          <p:cNvSpPr/>
          <p:nvPr/>
        </p:nvSpPr>
        <p:spPr>
          <a:xfrm>
            <a:off x="9674352" y="484632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위→아래 스캔 애니메이션. 10초마다 반복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0"/>
          <p:cNvSpPr/>
          <p:nvPr/>
        </p:nvSpPr>
        <p:spPr>
          <a:xfrm>
            <a:off x="365760" y="228600"/>
            <a:ext cx="2743200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0"/>
          <p:cNvSpPr/>
          <p:nvPr/>
        </p:nvSpPr>
        <p:spPr>
          <a:xfrm>
            <a:off x="365760" y="228600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구축 과정 A~Z  (3/3)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10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카카오 공유 API · 도메인 변경 · Analytics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10"/>
          <p:cNvSpPr/>
          <p:nvPr/>
        </p:nvSpPr>
        <p:spPr>
          <a:xfrm>
            <a:off x="365760" y="1371600"/>
            <a:ext cx="5303520" cy="25603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카카오 공유 API 설정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0"/>
          <p:cNvSpPr/>
          <p:nvPr/>
        </p:nvSpPr>
        <p:spPr>
          <a:xfrm>
            <a:off x="548640" y="190195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App ID: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10"/>
          <p:cNvSpPr/>
          <p:nvPr/>
        </p:nvSpPr>
        <p:spPr>
          <a:xfrm>
            <a:off x="2011680" y="190195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****-KAKAO-APP-ID-****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48640" y="2249424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앱 이름: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2011680" y="2249424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PromptLab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0"/>
          <p:cNvSpPr/>
          <p:nvPr/>
        </p:nvSpPr>
        <p:spPr>
          <a:xfrm>
            <a:off x="548640" y="2596896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JavaScript 키: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0"/>
          <p:cNvSpPr/>
          <p:nvPr/>
        </p:nvSpPr>
        <p:spPr>
          <a:xfrm>
            <a:off x="2011680" y="2596896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****-KAKAO-JS-KEY-****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548640" y="2944368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등록 도메인: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2011680" y="2944368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promptlab.io.kr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548640" y="3291840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오류 코드: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10"/>
          <p:cNvSpPr/>
          <p:nvPr/>
        </p:nvSpPr>
        <p:spPr>
          <a:xfrm>
            <a:off x="2011680" y="329184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4019 → 도메인 미등록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0"/>
          <p:cNvSpPr/>
          <p:nvPr/>
        </p:nvSpPr>
        <p:spPr>
          <a:xfrm>
            <a:off x="548640" y="3639312"/>
            <a:ext cx="1645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해결 방법: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2011680" y="3639312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제품 링크 관리 + JS 키 도메인 등록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5943600" y="1371600"/>
            <a:ext cx="5852160" cy="25603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0"/>
          <p:cNvSpPr/>
          <p:nvPr/>
        </p:nvSpPr>
        <p:spPr>
          <a:xfrm>
            <a:off x="6080760" y="14630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도메인 변경 — promptlab.io.kr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0"/>
          <p:cNvSpPr/>
          <p:nvPr/>
        </p:nvSpPr>
        <p:spPr>
          <a:xfrm>
            <a:off x="6126480" y="1901952"/>
            <a:ext cx="5486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1. 가비아에서 promptlab.io.kr 구매 (16,500원/년)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2. 등록정보 숨김 + 안전잠금 설정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3. Vercel → Settings → Domains → Add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4. DNS A 레코드: @ → 216.198.79.1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5. [내부-vercel-url].vercel.app → 308 영구 리다이렉트</a:t>
            </a:r>
            <a:b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5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6. 코드 5개 파일 URL 일괄 교체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0"/>
          <p:cNvSpPr/>
          <p:nvPr/>
        </p:nvSpPr>
        <p:spPr>
          <a:xfrm>
            <a:off x="365760" y="4114800"/>
            <a:ext cx="5303520" cy="16459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0"/>
          <p:cNvSpPr/>
          <p:nvPr/>
        </p:nvSpPr>
        <p:spPr>
          <a:xfrm>
            <a:off x="502920" y="42062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Google Analytics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548640" y="4617720"/>
            <a:ext cx="5029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측정 ID: G-**********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시간대: 대한민국 (GMT+9)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적용: app/layout.tsx (afterInteractive)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5943600" y="4114800"/>
            <a:ext cx="5852160" cy="16459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6080760" y="42062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콘텐츠 매트릭스 (7개 축 조합)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0"/>
          <p:cNvSpPr/>
          <p:nvPr/>
        </p:nvSpPr>
        <p:spPr>
          <a:xfrm>
            <a:off x="6126480" y="466344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0"/>
          <p:cNvSpPr/>
          <p:nvPr/>
        </p:nvSpPr>
        <p:spPr>
          <a:xfrm>
            <a:off x="6126480" y="466344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카테고리 22개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543800" y="466344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10"/>
          <p:cNvSpPr/>
          <p:nvPr/>
        </p:nvSpPr>
        <p:spPr>
          <a:xfrm>
            <a:off x="7543800" y="466344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직종 32개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0"/>
          <p:cNvSpPr/>
          <p:nvPr/>
        </p:nvSpPr>
        <p:spPr>
          <a:xfrm>
            <a:off x="8961120" y="466344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8961120" y="466344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세대 5개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10378440" y="466344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10"/>
          <p:cNvSpPr/>
          <p:nvPr/>
        </p:nvSpPr>
        <p:spPr>
          <a:xfrm>
            <a:off x="10378440" y="466344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지역 17개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6126480" y="516636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126480" y="51663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규모 6개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0"/>
          <p:cNvSpPr/>
          <p:nvPr/>
        </p:nvSpPr>
        <p:spPr>
          <a:xfrm>
            <a:off x="7543800" y="516636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0"/>
          <p:cNvSpPr/>
          <p:nvPr/>
        </p:nvSpPr>
        <p:spPr>
          <a:xfrm>
            <a:off x="7543800" y="51663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성별 3개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8961120" y="516636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10"/>
          <p:cNvSpPr/>
          <p:nvPr/>
        </p:nvSpPr>
        <p:spPr>
          <a:xfrm>
            <a:off x="8961120" y="51663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경력 9개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0"/>
          <p:cNvSpPr/>
          <p:nvPr/>
        </p:nvSpPr>
        <p:spPr>
          <a:xfrm>
            <a:off x="10378440" y="5166360"/>
            <a:ext cx="1325880" cy="384048"/>
          </a:xfrm>
          <a:prstGeom prst="roundRect">
            <a:avLst>
              <a:gd fmla="val 11905" name="adj"/>
            </a:avLst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10378440" y="5166360"/>
            <a:ext cx="13258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→ 수십만 조합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11"/>
          <p:cNvSpPr/>
          <p:nvPr/>
        </p:nvSpPr>
        <p:spPr>
          <a:xfrm>
            <a:off x="365760" y="228600"/>
            <a:ext cx="2386584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1"/>
          <p:cNvSpPr/>
          <p:nvPr/>
        </p:nvSpPr>
        <p:spPr>
          <a:xfrm>
            <a:off x="365760" y="228600"/>
            <a:ext cx="238658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운영 가이드라인 v2.0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운영 가이드라인 v2.0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11"/>
          <p:cNvSpPr/>
          <p:nvPr/>
        </p:nvSpPr>
        <p:spPr>
          <a:xfrm>
            <a:off x="365760" y="1371600"/>
            <a:ext cx="5303520" cy="2286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11"/>
          <p:cNvSpPr/>
          <p:nvPr/>
        </p:nvSpPr>
        <p:spPr>
          <a:xfrm>
            <a:off x="502920" y="146304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핵심 원칙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548640" y="187452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시점 중립성: 특정 연도/수치 하드코딩 절대 금지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날짜 노출 없음: created_at은 정렬용으로만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작성자명 고정: 항상 PromptLab</a:t>
            </a:r>
            <a:b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Char char="•"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상품성 우선: 복붙해서 바로 쓸 수 있는 내용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365760" y="3749040"/>
            <a:ext cx="5303520" cy="2011680"/>
          </a:xfrm>
          <a:prstGeom prst="rect">
            <a:avLst/>
          </a:prstGeom>
          <a:solidFill>
            <a:srgbClr val="0D1117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1"/>
          <p:cNvSpPr/>
          <p:nvPr/>
        </p:nvSpPr>
        <p:spPr>
          <a:xfrm>
            <a:off x="502920" y="38404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시점 중립성 예시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48640" y="4206240"/>
            <a:ext cx="5029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❌  "2024년 최저임금은 9,860원"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✅  "현재 최저임금 {{최저임금}}원 기준"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❌  "2025년 부가세율 10%"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ourier New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ourier New"/>
                <a:ea typeface="Courier New"/>
                <a:cs typeface="Courier New"/>
                <a:sym typeface="Courier New"/>
              </a:rPr>
              <a:t>✅  "현행 부가세율 {{세율}}% 기준"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5943600" y="1371600"/>
            <a:ext cx="5852160" cy="22860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6080760" y="1463040"/>
            <a:ext cx="5577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카테고리 배분 (20개 기준)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11"/>
          <p:cNvSpPr/>
          <p:nvPr/>
        </p:nvSpPr>
        <p:spPr>
          <a:xfrm>
            <a:off x="6126480" y="192024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Coding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9875520" y="192024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6126480" y="2212848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Marketing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9875520" y="2212848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6126480" y="2505456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Finance/Legal/Health/Career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9875520" y="2505456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6126480" y="2798064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8C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C8CFF"/>
                </a:solidFill>
                <a:latin typeface="Calibri"/>
                <a:ea typeface="Calibri"/>
                <a:cs typeface="Calibri"/>
                <a:sym typeface="Calibri"/>
              </a:rPr>
              <a:t>Education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9875520" y="2798064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6126480" y="3090672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General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9875520" y="3090672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6126480" y="3383280"/>
            <a:ext cx="3657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기타 (Real Estate 등)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9875520" y="3383280"/>
            <a:ext cx="17373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943600" y="3749040"/>
            <a:ext cx="5852160" cy="201168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11"/>
          <p:cNvSpPr/>
          <p:nvPr/>
        </p:nvSpPr>
        <p:spPr>
          <a:xfrm>
            <a:off x="6080760" y="384048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절대 금지 12가지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6126480" y="425196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author_id 컬럼 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1"/>
          <p:cNvSpPr/>
          <p:nvPr/>
        </p:nvSpPr>
        <p:spPr>
          <a:xfrm>
            <a:off x="9006840" y="4251960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대괄호 [ ] 사용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6126480" y="46908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환각 정보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9006840" y="4690872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달러쿼팅 미완성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126480" y="512978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특정 연도 하드코딩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9006840" y="5129784"/>
            <a:ext cx="2743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514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85149"/>
                </a:solidFill>
                <a:latin typeface="Calibri"/>
                <a:ea typeface="Calibri"/>
                <a:cs typeface="Calibri"/>
                <a:sym typeface="Calibri"/>
              </a:rPr>
              <a:t>✗  AI 티 나는 문장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2"/>
          <p:cNvSpPr/>
          <p:nvPr/>
        </p:nvSpPr>
        <p:spPr>
          <a:xfrm>
            <a:off x="365760" y="228600"/>
            <a:ext cx="2029968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2"/>
          <p:cNvSpPr/>
          <p:nvPr/>
        </p:nvSpPr>
        <p:spPr>
          <a:xfrm>
            <a:off x="365760" y="228600"/>
            <a:ext cx="20299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06  오류 발생 및 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2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오류 발생 및 해결 과정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2"/>
          <p:cNvSpPr/>
          <p:nvPr/>
        </p:nvSpPr>
        <p:spPr>
          <a:xfrm>
            <a:off x="4247432" y="676725"/>
            <a:ext cx="3255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개발 과정에서 발생한 오류 9건과 해결 방법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2"/>
          <p:cNvSpPr/>
          <p:nvPr/>
        </p:nvSpPr>
        <p:spPr>
          <a:xfrm>
            <a:off x="0" y="6363291"/>
            <a:ext cx="12161400" cy="27420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2"/>
          <p:cNvSpPr/>
          <p:nvPr/>
        </p:nvSpPr>
        <p:spPr>
          <a:xfrm>
            <a:off x="0" y="6363291"/>
            <a:ext cx="1216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2"/>
          <p:cNvSpPr/>
          <p:nvPr/>
        </p:nvSpPr>
        <p:spPr>
          <a:xfrm>
            <a:off x="365760" y="1151211"/>
            <a:ext cx="11430000" cy="3657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2"/>
          <p:cNvSpPr/>
          <p:nvPr/>
        </p:nvSpPr>
        <p:spPr>
          <a:xfrm>
            <a:off x="502920" y="1151211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오류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2"/>
          <p:cNvSpPr/>
          <p:nvPr/>
        </p:nvSpPr>
        <p:spPr>
          <a:xfrm>
            <a:off x="3337560" y="1151211"/>
            <a:ext cx="2560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원인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12"/>
          <p:cNvSpPr/>
          <p:nvPr/>
        </p:nvSpPr>
        <p:spPr>
          <a:xfrm>
            <a:off x="5989320" y="1151211"/>
            <a:ext cx="5669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해결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12"/>
          <p:cNvSpPr/>
          <p:nvPr/>
        </p:nvSpPr>
        <p:spPr>
          <a:xfrm>
            <a:off x="365760" y="1562691"/>
            <a:ext cx="11430000" cy="54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365760" y="1562691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502920" y="160841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 scope 오류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12"/>
          <p:cNvSpPr/>
          <p:nvPr/>
        </p:nvSpPr>
        <p:spPr>
          <a:xfrm>
            <a:off x="3337560" y="160841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GitHub PAT 권한 부족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5989320" y="1608411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PAT 재발급 + workflow 체크 + Windows 자격증명 삭제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65760" y="2147907"/>
            <a:ext cx="11430000" cy="54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365760" y="2147907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502920" y="2193627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google.generativeai deprecated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12"/>
          <p:cNvSpPr/>
          <p:nvPr/>
        </p:nvSpPr>
        <p:spPr>
          <a:xfrm>
            <a:off x="3337560" y="2193627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패키지 지원 종료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5989320" y="2193627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pip install google-genai로 변경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365760" y="2733123"/>
            <a:ext cx="11430000" cy="54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365760" y="2733123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502920" y="2778843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gemini-1.5-flash 404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3337560" y="2778843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모델 지원 종료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5989320" y="2778843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gemini-2.0-flash로 변경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365760" y="3318339"/>
            <a:ext cx="11430000" cy="54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365760" y="3318339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502920" y="3364059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429 RESOURCE_EXHAUSTED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3337560" y="3364059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하루 할당량 소진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5989320" y="3364059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자정 후 자동 리셋 대기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12"/>
          <p:cNvSpPr/>
          <p:nvPr/>
        </p:nvSpPr>
        <p:spPr>
          <a:xfrm>
            <a:off x="365760" y="3903555"/>
            <a:ext cx="11430000" cy="54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365760" y="3903555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12"/>
          <p:cNvSpPr/>
          <p:nvPr/>
        </p:nvSpPr>
        <p:spPr>
          <a:xfrm>
            <a:off x="502920" y="3949275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 null 오류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3337560" y="3949275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Gemini 생성 글 일부 null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5989320" y="3949275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UPDATE SET description='' WHERE description IS NULL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365760" y="4488771"/>
            <a:ext cx="11430000" cy="54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12"/>
          <p:cNvSpPr/>
          <p:nvPr/>
        </p:nvSpPr>
        <p:spPr>
          <a:xfrm>
            <a:off x="365760" y="4488771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12"/>
          <p:cNvSpPr/>
          <p:nvPr/>
        </p:nvSpPr>
        <p:spPr>
          <a:xfrm>
            <a:off x="502920" y="4534491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본문 빈 줄 과다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337560" y="4534491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\r\n split 문제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5989320" y="4534491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replace(/\r\n/g,'\n') + 빈줄 최대 1개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365760" y="5073987"/>
            <a:ext cx="11430000" cy="54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12"/>
          <p:cNvSpPr/>
          <p:nvPr/>
        </p:nvSpPr>
        <p:spPr>
          <a:xfrm>
            <a:off x="365760" y="5073987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502920" y="5119707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카카오 공유 4019 오류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3337560" y="5119707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도메인 미등록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5989320" y="5119707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제품 링크 관리 + JS 키 도메인 등록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365760" y="5659203"/>
            <a:ext cx="11430000" cy="54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2"/>
          <p:cNvSpPr/>
          <p:nvPr/>
        </p:nvSpPr>
        <p:spPr>
          <a:xfrm>
            <a:off x="365760" y="5659203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2"/>
          <p:cNvSpPr/>
          <p:nvPr/>
        </p:nvSpPr>
        <p:spPr>
          <a:xfrm>
            <a:off x="502920" y="5704923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UnicodeEncodeError cp949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3337560" y="5704923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이모지 인코딩 오류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5989320" y="5704923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sys.stdout.buffer.write + ensure_ascii=False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365760" y="6207843"/>
            <a:ext cx="11430000" cy="548700"/>
          </a:xfrm>
          <a:prstGeom prst="rect">
            <a:avLst/>
          </a:prstGeom>
          <a:solidFill>
            <a:srgbClr val="161B22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2"/>
          <p:cNvSpPr/>
          <p:nvPr/>
        </p:nvSpPr>
        <p:spPr>
          <a:xfrm>
            <a:off x="365760" y="6207843"/>
            <a:ext cx="45600" cy="548700"/>
          </a:xfrm>
          <a:prstGeom prst="rect">
            <a:avLst/>
          </a:prstGeom>
          <a:solidFill>
            <a:srgbClr val="F85149"/>
          </a:solidFill>
          <a:ln cap="flat" cmpd="sng" w="12700">
            <a:solidFill>
              <a:srgbClr val="F851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2"/>
          <p:cNvSpPr/>
          <p:nvPr/>
        </p:nvSpPr>
        <p:spPr>
          <a:xfrm>
            <a:off x="502920" y="6253563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카카오 4019 오류 (도메인 변경 후)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3337560" y="6253563"/>
            <a:ext cx="2560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도메인 변경 후 카카오 앱 미업데이트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5989320" y="6253563"/>
            <a:ext cx="5669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JS 키 재발급 + promptlab.io.kr 도메인 2곳 등록 + 코드 키 교체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13"/>
          <p:cNvSpPr/>
          <p:nvPr/>
        </p:nvSpPr>
        <p:spPr>
          <a:xfrm>
            <a:off x="365760" y="228600"/>
            <a:ext cx="2980944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0" name="Google Shape;530;p13"/>
          <p:cNvSpPr/>
          <p:nvPr/>
        </p:nvSpPr>
        <p:spPr>
          <a:xfrm>
            <a:off x="365760" y="228600"/>
            <a:ext cx="298094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Claude Code 루틴 자동화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Claude Code Routines — 완전 자동화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365760" y="109728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8B949E"/>
                </a:solidFill>
                <a:latin typeface="Arial"/>
                <a:ea typeface="Arial"/>
                <a:cs typeface="Arial"/>
                <a:sym typeface="Arial"/>
              </a:rPr>
              <a:t>claude.ai/code/routines 에서 설정. 노트북 꺼져도 Anthropic 클라우드에서 자동 실행.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365760" y="1554480"/>
            <a:ext cx="3657600" cy="34747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13"/>
          <p:cNvSpPr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13"/>
          <p:cNvSpPr/>
          <p:nvPr/>
        </p:nvSpPr>
        <p:spPr>
          <a:xfrm>
            <a:off x="50292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세션 1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1828800" y="1554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매일 오전 9:00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365760" y="1554480"/>
            <a:ext cx="45720" cy="347472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0" name="Google Shape;540;p13"/>
          <p:cNvSpPr/>
          <p:nvPr/>
        </p:nvSpPr>
        <p:spPr>
          <a:xfrm>
            <a:off x="548640" y="21488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기존 글 10개 전면 재작성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548640" y="278892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GUIDELINE.md 읽기 → Supabase에서 last_auto_update IS NULL 글 10개 조회 → 전면 재작성 → UPDATE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4297680" y="1554480"/>
            <a:ext cx="3657600" cy="34747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3" name="Google Shape;543;p13"/>
          <p:cNvSpPr/>
          <p:nvPr/>
        </p:nvSpPr>
        <p:spPr>
          <a:xfrm>
            <a:off x="4297680" y="1554480"/>
            <a:ext cx="3657600" cy="4572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443484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58A6FF"/>
                </a:solidFill>
                <a:latin typeface="Arial Black"/>
                <a:ea typeface="Arial Black"/>
                <a:cs typeface="Arial Black"/>
                <a:sym typeface="Arial Black"/>
              </a:rPr>
              <a:t>세션 2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13"/>
          <p:cNvSpPr/>
          <p:nvPr/>
        </p:nvSpPr>
        <p:spPr>
          <a:xfrm>
            <a:off x="5760720" y="1554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매일 오후 1:00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13"/>
          <p:cNvSpPr/>
          <p:nvPr/>
        </p:nvSpPr>
        <p:spPr>
          <a:xfrm>
            <a:off x="4297680" y="1554480"/>
            <a:ext cx="45720" cy="347472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13"/>
          <p:cNvSpPr/>
          <p:nvPr/>
        </p:nvSpPr>
        <p:spPr>
          <a:xfrm>
            <a:off x="4480560" y="21488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기존 글 10개 전면 재작성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13"/>
          <p:cNvSpPr/>
          <p:nvPr/>
        </p:nvSpPr>
        <p:spPr>
          <a:xfrm>
            <a:off x="4480560" y="278892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세션 1과 동일. 총 하루 20개 재작성.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13"/>
          <p:cNvSpPr/>
          <p:nvPr/>
        </p:nvSpPr>
        <p:spPr>
          <a:xfrm>
            <a:off x="8229600" y="1554480"/>
            <a:ext cx="3657600" cy="347472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13"/>
          <p:cNvSpPr/>
          <p:nvPr/>
        </p:nvSpPr>
        <p:spPr>
          <a:xfrm>
            <a:off x="8229600" y="1554480"/>
            <a:ext cx="3657600" cy="457200"/>
          </a:xfrm>
          <a:prstGeom prst="rect">
            <a:avLst/>
          </a:prstGeom>
          <a:solidFill>
            <a:srgbClr val="21262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13"/>
          <p:cNvSpPr/>
          <p:nvPr/>
        </p:nvSpPr>
        <p:spPr>
          <a:xfrm>
            <a:off x="8366760" y="155448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500"/>
              <a:buFont typeface="Arial Black"/>
              <a:buNone/>
            </a:pPr>
            <a:r>
              <a:rPr b="1" i="0" lang="en-US" sz="1500" u="none" cap="none" strike="noStrike">
                <a:solidFill>
                  <a:srgbClr val="3FB950"/>
                </a:solidFill>
                <a:latin typeface="Arial Black"/>
                <a:ea typeface="Arial Black"/>
                <a:cs typeface="Arial Black"/>
                <a:sym typeface="Arial Black"/>
              </a:rPr>
              <a:t>세션 3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13"/>
          <p:cNvSpPr/>
          <p:nvPr/>
        </p:nvSpPr>
        <p:spPr>
          <a:xfrm>
            <a:off x="9692640" y="1554480"/>
            <a:ext cx="21031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매일 오후 5:00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13"/>
          <p:cNvSpPr/>
          <p:nvPr/>
        </p:nvSpPr>
        <p:spPr>
          <a:xfrm>
            <a:off x="8229600" y="1554480"/>
            <a:ext cx="45720" cy="347472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4" name="Google Shape;554;p13"/>
          <p:cNvSpPr/>
          <p:nvPr/>
        </p:nvSpPr>
        <p:spPr>
          <a:xfrm>
            <a:off x="8412480" y="214884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새 글 20개 작성 + INSERT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13"/>
          <p:cNvSpPr/>
          <p:nvPr/>
        </p:nvSpPr>
        <p:spPr>
          <a:xfrm>
            <a:off x="8412480" y="2788920"/>
            <a:ext cx="32918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기존 제목 전체 조회 → 중복 체크 → 가이드라인 기준 20개 작성 → Supabase INSERT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13"/>
          <p:cNvSpPr/>
          <p:nvPr/>
        </p:nvSpPr>
        <p:spPr>
          <a:xfrm>
            <a:off x="365760" y="5212080"/>
            <a:ext cx="11430000" cy="100584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7" name="Google Shape;557;p13"/>
          <p:cNvSpPr/>
          <p:nvPr/>
        </p:nvSpPr>
        <p:spPr>
          <a:xfrm>
            <a:off x="731520" y="5303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하루 재작성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13"/>
          <p:cNvSpPr/>
          <p:nvPr/>
        </p:nvSpPr>
        <p:spPr>
          <a:xfrm>
            <a:off x="731520" y="5623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20개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13"/>
          <p:cNvSpPr/>
          <p:nvPr/>
        </p:nvSpPr>
        <p:spPr>
          <a:xfrm>
            <a:off x="2971800" y="5303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하루 신규 작성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13"/>
          <p:cNvSpPr/>
          <p:nvPr/>
        </p:nvSpPr>
        <p:spPr>
          <a:xfrm>
            <a:off x="2971800" y="5623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20개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13"/>
          <p:cNvSpPr/>
          <p:nvPr/>
        </p:nvSpPr>
        <p:spPr>
          <a:xfrm>
            <a:off x="5212080" y="5303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완료까지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13"/>
          <p:cNvSpPr/>
          <p:nvPr/>
        </p:nvSpPr>
        <p:spPr>
          <a:xfrm>
            <a:off x="5212080" y="5623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약 49일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13"/>
          <p:cNvSpPr/>
          <p:nvPr/>
        </p:nvSpPr>
        <p:spPr>
          <a:xfrm>
            <a:off x="7452360" y="5303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완료 후 총 글 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13"/>
          <p:cNvSpPr/>
          <p:nvPr/>
        </p:nvSpPr>
        <p:spPr>
          <a:xfrm>
            <a:off x="7452360" y="5623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약 1,956개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13"/>
          <p:cNvSpPr/>
          <p:nvPr/>
        </p:nvSpPr>
        <p:spPr>
          <a:xfrm>
            <a:off x="9692640" y="5303520"/>
            <a:ext cx="20116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운영 개입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13"/>
          <p:cNvSpPr/>
          <p:nvPr/>
        </p:nvSpPr>
        <p:spPr>
          <a:xfrm>
            <a:off x="9692640" y="5623560"/>
            <a:ext cx="2011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600"/>
              <a:buFont typeface="Arial Black"/>
              <a:buNone/>
            </a:pPr>
            <a:r>
              <a:rPr b="1" i="0" lang="en-US" sz="16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0회/일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14"/>
          <p:cNvSpPr/>
          <p:nvPr/>
        </p:nvSpPr>
        <p:spPr>
          <a:xfrm>
            <a:off x="365760" y="228600"/>
            <a:ext cx="1792224" cy="292608"/>
          </a:xfrm>
          <a:prstGeom prst="roundRect">
            <a:avLst>
              <a:gd fmla="val 15625" name="adj"/>
            </a:avLst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14"/>
          <p:cNvSpPr/>
          <p:nvPr/>
        </p:nvSpPr>
        <p:spPr>
          <a:xfrm>
            <a:off x="365760" y="228600"/>
            <a:ext cx="1792224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현황 및 로드맵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14"/>
          <p:cNvSpPr/>
          <p:nvPr/>
        </p:nvSpPr>
        <p:spPr>
          <a:xfrm>
            <a:off x="365760" y="594360"/>
            <a:ext cx="11430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rPr>
              <a:t>현재 상태 · 로드맵 · 수익화 계획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14"/>
          <p:cNvSpPr/>
          <p:nvPr/>
        </p:nvSpPr>
        <p:spPr>
          <a:xfrm>
            <a:off x="0" y="6583680"/>
            <a:ext cx="12161400" cy="27420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14"/>
          <p:cNvSpPr/>
          <p:nvPr/>
        </p:nvSpPr>
        <p:spPr>
          <a:xfrm>
            <a:off x="0" y="6583680"/>
            <a:ext cx="12161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14"/>
          <p:cNvSpPr/>
          <p:nvPr/>
        </p:nvSpPr>
        <p:spPr>
          <a:xfrm>
            <a:off x="365750" y="1371600"/>
            <a:ext cx="5029200" cy="2717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4"/>
          <p:cNvSpPr/>
          <p:nvPr/>
        </p:nvSpPr>
        <p:spPr>
          <a:xfrm>
            <a:off x="502920" y="1463040"/>
            <a:ext cx="47548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현재 상태 (2026.04.19)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9" name="Google Shape;579;p14"/>
          <p:cNvSpPr/>
          <p:nvPr/>
        </p:nvSpPr>
        <p:spPr>
          <a:xfrm>
            <a:off x="548640" y="190195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사이트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14"/>
          <p:cNvSpPr/>
          <p:nvPr/>
        </p:nvSpPr>
        <p:spPr>
          <a:xfrm>
            <a:off x="2423160" y="1901952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정상 운영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p14"/>
          <p:cNvSpPr/>
          <p:nvPr/>
        </p:nvSpPr>
        <p:spPr>
          <a:xfrm>
            <a:off x="548640" y="218541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도메인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2" name="Google Shape;582;p14"/>
          <p:cNvSpPr/>
          <p:nvPr/>
        </p:nvSpPr>
        <p:spPr>
          <a:xfrm>
            <a:off x="2423160" y="2185416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promptlab.io.kr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3" name="Google Shape;583;p14"/>
          <p:cNvSpPr/>
          <p:nvPr/>
        </p:nvSpPr>
        <p:spPr>
          <a:xfrm>
            <a:off x="548640" y="2468880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DB 글 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14"/>
          <p:cNvSpPr/>
          <p:nvPr/>
        </p:nvSpPr>
        <p:spPr>
          <a:xfrm>
            <a:off x="2423160" y="2468880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976개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14"/>
          <p:cNvSpPr/>
          <p:nvPr/>
        </p:nvSpPr>
        <p:spPr>
          <a:xfrm>
            <a:off x="548640" y="2752344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자동화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14"/>
          <p:cNvSpPr/>
          <p:nvPr/>
        </p:nvSpPr>
        <p:spPr>
          <a:xfrm>
            <a:off x="2423160" y="2752344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Claude Code 루틴 3세션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14"/>
          <p:cNvSpPr/>
          <p:nvPr/>
        </p:nvSpPr>
        <p:spPr>
          <a:xfrm>
            <a:off x="548640" y="3035808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공유 기능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14"/>
          <p:cNvSpPr/>
          <p:nvPr/>
        </p:nvSpPr>
        <p:spPr>
          <a:xfrm>
            <a:off x="2423160" y="3035808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7개 SNS 완료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14"/>
          <p:cNvSpPr/>
          <p:nvPr/>
        </p:nvSpPr>
        <p:spPr>
          <a:xfrm>
            <a:off x="548640" y="3319272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기존 글 수정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14"/>
          <p:cNvSpPr/>
          <p:nvPr/>
        </p:nvSpPr>
        <p:spPr>
          <a:xfrm>
            <a:off x="2423160" y="3319272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2992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D29922"/>
                </a:solidFill>
                <a:latin typeface="Calibri"/>
                <a:ea typeface="Calibri"/>
                <a:cs typeface="Calibri"/>
                <a:sym typeface="Calibri"/>
              </a:rPr>
              <a:t>5개 완료 / 971개 남음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14"/>
          <p:cNvSpPr/>
          <p:nvPr/>
        </p:nvSpPr>
        <p:spPr>
          <a:xfrm>
            <a:off x="548640" y="3602736"/>
            <a:ext cx="1828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월 운영비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14"/>
          <p:cNvSpPr/>
          <p:nvPr/>
        </p:nvSpPr>
        <p:spPr>
          <a:xfrm>
            <a:off x="2423160" y="3602736"/>
            <a:ext cx="283464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0원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14"/>
          <p:cNvSpPr/>
          <p:nvPr/>
        </p:nvSpPr>
        <p:spPr>
          <a:xfrm>
            <a:off x="5577830" y="1371600"/>
            <a:ext cx="6217800" cy="27171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14"/>
          <p:cNvSpPr/>
          <p:nvPr/>
        </p:nvSpPr>
        <p:spPr>
          <a:xfrm>
            <a:off x="5715000" y="1463040"/>
            <a:ext cx="5943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8A6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58A6FF"/>
                </a:solidFill>
                <a:latin typeface="Calibri"/>
                <a:ea typeface="Calibri"/>
                <a:cs typeface="Calibri"/>
                <a:sym typeface="Calibri"/>
              </a:rPr>
              <a:t>로드맵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14"/>
          <p:cNvSpPr/>
          <p:nvPr/>
        </p:nvSpPr>
        <p:spPr>
          <a:xfrm>
            <a:off x="5715000" y="1920240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14"/>
          <p:cNvSpPr/>
          <p:nvPr/>
        </p:nvSpPr>
        <p:spPr>
          <a:xfrm>
            <a:off x="5897880" y="190195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지금 ~ 50일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14"/>
          <p:cNvSpPr/>
          <p:nvPr/>
        </p:nvSpPr>
        <p:spPr>
          <a:xfrm>
            <a:off x="7543800" y="190195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기존 976개 전면 재작성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14"/>
          <p:cNvSpPr/>
          <p:nvPr/>
        </p:nvSpPr>
        <p:spPr>
          <a:xfrm>
            <a:off x="5715000" y="2212848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14"/>
          <p:cNvSpPr/>
          <p:nvPr/>
        </p:nvSpPr>
        <p:spPr>
          <a:xfrm>
            <a:off x="5897880" y="219456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~3개월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14"/>
          <p:cNvSpPr/>
          <p:nvPr/>
        </p:nvSpPr>
        <p:spPr>
          <a:xfrm>
            <a:off x="7543800" y="219456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글 3,000개 달성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14"/>
          <p:cNvSpPr/>
          <p:nvPr/>
        </p:nvSpPr>
        <p:spPr>
          <a:xfrm>
            <a:off x="5715000" y="2505456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2" name="Google Shape;602;p14"/>
          <p:cNvSpPr/>
          <p:nvPr/>
        </p:nvSpPr>
        <p:spPr>
          <a:xfrm>
            <a:off x="5897880" y="2487168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3,000개 달성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14"/>
          <p:cNvSpPr/>
          <p:nvPr/>
        </p:nvSpPr>
        <p:spPr>
          <a:xfrm>
            <a:off x="7543800" y="248716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자동 완성기 배포 + 도메인 완전 전환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14"/>
          <p:cNvSpPr/>
          <p:nvPr/>
        </p:nvSpPr>
        <p:spPr>
          <a:xfrm>
            <a:off x="5715000" y="2798064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14"/>
          <p:cNvSpPr/>
          <p:nvPr/>
        </p:nvSpPr>
        <p:spPr>
          <a:xfrm>
            <a:off x="5897880" y="2779776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~1년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14"/>
          <p:cNvSpPr/>
          <p:nvPr/>
        </p:nvSpPr>
        <p:spPr>
          <a:xfrm>
            <a:off x="7543800" y="2779776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글 10,000개 + AdSense 수익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14"/>
          <p:cNvSpPr/>
          <p:nvPr/>
        </p:nvSpPr>
        <p:spPr>
          <a:xfrm>
            <a:off x="5715000" y="3090672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8" name="Google Shape;608;p14"/>
          <p:cNvSpPr/>
          <p:nvPr/>
        </p:nvSpPr>
        <p:spPr>
          <a:xfrm>
            <a:off x="5897880" y="3072384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10,000개 달성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9" name="Google Shape;609;p14"/>
          <p:cNvSpPr/>
          <p:nvPr/>
        </p:nvSpPr>
        <p:spPr>
          <a:xfrm>
            <a:off x="7543800" y="3072384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구글 로그인 + My Lab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0" name="Google Shape;610;p14"/>
          <p:cNvSpPr/>
          <p:nvPr/>
        </p:nvSpPr>
        <p:spPr>
          <a:xfrm>
            <a:off x="5715000" y="3383280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14"/>
          <p:cNvSpPr/>
          <p:nvPr/>
        </p:nvSpPr>
        <p:spPr>
          <a:xfrm>
            <a:off x="5897880" y="3364992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~2년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14"/>
          <p:cNvSpPr/>
          <p:nvPr/>
        </p:nvSpPr>
        <p:spPr>
          <a:xfrm>
            <a:off x="7543800" y="3364992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글 50,000개 + API 판매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14"/>
          <p:cNvSpPr/>
          <p:nvPr/>
        </p:nvSpPr>
        <p:spPr>
          <a:xfrm>
            <a:off x="5715000" y="3675888"/>
            <a:ext cx="109728" cy="109728"/>
          </a:xfrm>
          <a:prstGeom prst="ellipse">
            <a:avLst/>
          </a:prstGeom>
          <a:solidFill>
            <a:srgbClr val="58A6FF"/>
          </a:solidFill>
          <a:ln cap="flat" cmpd="sng" w="12700">
            <a:solidFill>
              <a:srgbClr val="58A6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14"/>
          <p:cNvSpPr/>
          <p:nvPr/>
        </p:nvSpPr>
        <p:spPr>
          <a:xfrm>
            <a:off x="5897880" y="3657600"/>
            <a:ext cx="1645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 xml:space="preserve">장기  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14"/>
          <p:cNvSpPr/>
          <p:nvPr/>
        </p:nvSpPr>
        <p:spPr>
          <a:xfrm>
            <a:off x="7543800" y="3657600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프리미엄 구독 모델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14"/>
          <p:cNvSpPr/>
          <p:nvPr/>
        </p:nvSpPr>
        <p:spPr>
          <a:xfrm>
            <a:off x="365760" y="4217821"/>
            <a:ext cx="11430000" cy="21945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14"/>
          <p:cNvSpPr/>
          <p:nvPr/>
        </p:nvSpPr>
        <p:spPr>
          <a:xfrm>
            <a:off x="548640" y="4309261"/>
            <a:ext cx="10972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수익화 계획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14"/>
          <p:cNvSpPr/>
          <p:nvPr/>
        </p:nvSpPr>
        <p:spPr>
          <a:xfrm>
            <a:off x="548640" y="4766461"/>
            <a:ext cx="2606100" cy="150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14"/>
          <p:cNvSpPr/>
          <p:nvPr/>
        </p:nvSpPr>
        <p:spPr>
          <a:xfrm>
            <a:off x="640080" y="4812181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1순위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0" name="Google Shape;620;p14"/>
          <p:cNvSpPr/>
          <p:nvPr/>
        </p:nvSpPr>
        <p:spPr>
          <a:xfrm>
            <a:off x="640080" y="5086501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AdSense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1" name="Google Shape;621;p14"/>
          <p:cNvSpPr/>
          <p:nvPr/>
        </p:nvSpPr>
        <p:spPr>
          <a:xfrm>
            <a:off x="640080" y="5424829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10~50만원/월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14"/>
          <p:cNvSpPr/>
          <p:nvPr/>
        </p:nvSpPr>
        <p:spPr>
          <a:xfrm>
            <a:off x="640080" y="5708293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10,000개 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14"/>
          <p:cNvSpPr/>
          <p:nvPr/>
        </p:nvSpPr>
        <p:spPr>
          <a:xfrm>
            <a:off x="3337560" y="4766461"/>
            <a:ext cx="2606100" cy="150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14"/>
          <p:cNvSpPr/>
          <p:nvPr/>
        </p:nvSpPr>
        <p:spPr>
          <a:xfrm>
            <a:off x="3429000" y="4812181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2순위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5" name="Google Shape;625;p14"/>
          <p:cNvSpPr/>
          <p:nvPr/>
        </p:nvSpPr>
        <p:spPr>
          <a:xfrm>
            <a:off x="3429000" y="5086501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자동 완성기 유료화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14"/>
          <p:cNvSpPr/>
          <p:nvPr/>
        </p:nvSpPr>
        <p:spPr>
          <a:xfrm>
            <a:off x="3429000" y="5424829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30~100만원/월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14"/>
          <p:cNvSpPr/>
          <p:nvPr/>
        </p:nvSpPr>
        <p:spPr>
          <a:xfrm>
            <a:off x="3429000" y="5708293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3,000개 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14"/>
          <p:cNvSpPr/>
          <p:nvPr/>
        </p:nvSpPr>
        <p:spPr>
          <a:xfrm>
            <a:off x="6126480" y="4766461"/>
            <a:ext cx="2606100" cy="150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9" name="Google Shape;629;p14"/>
          <p:cNvSpPr/>
          <p:nvPr/>
        </p:nvSpPr>
        <p:spPr>
          <a:xfrm>
            <a:off x="6217920" y="4812181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3순위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14"/>
          <p:cNvSpPr/>
          <p:nvPr/>
        </p:nvSpPr>
        <p:spPr>
          <a:xfrm>
            <a:off x="6217920" y="5086501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판매 (49,000원)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14"/>
          <p:cNvSpPr/>
          <p:nvPr/>
        </p:nvSpPr>
        <p:spPr>
          <a:xfrm>
            <a:off x="6217920" y="5424829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50~200만원/월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14"/>
          <p:cNvSpPr/>
          <p:nvPr/>
        </p:nvSpPr>
        <p:spPr>
          <a:xfrm>
            <a:off x="6217920" y="5708293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20,000개 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14"/>
          <p:cNvSpPr/>
          <p:nvPr/>
        </p:nvSpPr>
        <p:spPr>
          <a:xfrm>
            <a:off x="8915400" y="4766461"/>
            <a:ext cx="2606100" cy="150870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14"/>
          <p:cNvSpPr/>
          <p:nvPr/>
        </p:nvSpPr>
        <p:spPr>
          <a:xfrm>
            <a:off x="9006840" y="4812181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E8622A"/>
                </a:solidFill>
                <a:latin typeface="Calibri"/>
                <a:ea typeface="Calibri"/>
                <a:cs typeface="Calibri"/>
                <a:sym typeface="Calibri"/>
              </a:rPr>
              <a:t>4순위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14"/>
          <p:cNvSpPr/>
          <p:nvPr/>
        </p:nvSpPr>
        <p:spPr>
          <a:xfrm>
            <a:off x="9006840" y="5086501"/>
            <a:ext cx="24231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프리미엄 구독 (9,900원)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14"/>
          <p:cNvSpPr/>
          <p:nvPr/>
        </p:nvSpPr>
        <p:spPr>
          <a:xfrm>
            <a:off x="9006840" y="5424829"/>
            <a:ext cx="2423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FB95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3FB950"/>
                </a:solidFill>
                <a:latin typeface="Calibri"/>
                <a:ea typeface="Calibri"/>
                <a:cs typeface="Calibri"/>
                <a:sym typeface="Calibri"/>
              </a:rPr>
              <a:t>100~500만원/월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14"/>
          <p:cNvSpPr/>
          <p:nvPr/>
        </p:nvSpPr>
        <p:spPr>
          <a:xfrm>
            <a:off x="9006840" y="5708293"/>
            <a:ext cx="242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글 30,000개 후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p17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E8622A"/>
          </a:solidFill>
          <a:ln cap="flat" cmpd="sng" w="12700">
            <a:solidFill>
              <a:srgbClr val="E862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4" name="Google Shape;744;p17"/>
          <p:cNvSpPr/>
          <p:nvPr/>
        </p:nvSpPr>
        <p:spPr>
          <a:xfrm>
            <a:off x="914400" y="164592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6400"/>
              <a:buFont typeface="Arial Black"/>
              <a:buNone/>
            </a:pPr>
            <a:r>
              <a:rPr b="1" i="0" lang="en-US" sz="64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PromptLab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17"/>
          <p:cNvSpPr/>
          <p:nvPr/>
        </p:nvSpPr>
        <p:spPr>
          <a:xfrm>
            <a:off x="914400" y="27432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프롬프트를 제대로 알면 AI 수준이 달라진다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17"/>
          <p:cNvSpPr/>
          <p:nvPr/>
        </p:nvSpPr>
        <p:spPr>
          <a:xfrm>
            <a:off x="914400" y="3429000"/>
            <a:ext cx="7315200" cy="27432"/>
          </a:xfrm>
          <a:prstGeom prst="rect">
            <a:avLst/>
          </a:prstGeom>
          <a:solidFill>
            <a:srgbClr val="30363D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7" name="Google Shape;747;p17"/>
          <p:cNvSpPr/>
          <p:nvPr/>
        </p:nvSpPr>
        <p:spPr>
          <a:xfrm>
            <a:off x="914400" y="361188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서인 (PICTORY-droid)  |  2026.04.19  |  promptlab.io.kr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8" name="Google Shape;748;p17"/>
          <p:cNvSpPr/>
          <p:nvPr/>
        </p:nvSpPr>
        <p:spPr>
          <a:xfrm>
            <a:off x="914400" y="4572000"/>
            <a:ext cx="2286000" cy="12801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9" name="Google Shape;749;p17"/>
          <p:cNvSpPr/>
          <p:nvPr/>
        </p:nvSpPr>
        <p:spPr>
          <a:xfrm>
            <a:off x="91440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목표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0" name="Google Shape;750;p17"/>
          <p:cNvSpPr/>
          <p:nvPr/>
        </p:nvSpPr>
        <p:spPr>
          <a:xfrm>
            <a:off x="914400" y="50292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50,000개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1" name="Google Shape;751;p17"/>
          <p:cNvSpPr/>
          <p:nvPr/>
        </p:nvSpPr>
        <p:spPr>
          <a:xfrm>
            <a:off x="3474720" y="4572000"/>
            <a:ext cx="2286000" cy="12801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2" name="Google Shape;752;p17"/>
          <p:cNvSpPr/>
          <p:nvPr/>
        </p:nvSpPr>
        <p:spPr>
          <a:xfrm>
            <a:off x="347472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현재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17"/>
          <p:cNvSpPr/>
          <p:nvPr/>
        </p:nvSpPr>
        <p:spPr>
          <a:xfrm>
            <a:off x="3474720" y="50292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976개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17"/>
          <p:cNvSpPr/>
          <p:nvPr/>
        </p:nvSpPr>
        <p:spPr>
          <a:xfrm>
            <a:off x="6035040" y="4572000"/>
            <a:ext cx="2286000" cy="12801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17"/>
          <p:cNvSpPr/>
          <p:nvPr/>
        </p:nvSpPr>
        <p:spPr>
          <a:xfrm>
            <a:off x="603504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월 운영비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17"/>
          <p:cNvSpPr/>
          <p:nvPr/>
        </p:nvSpPr>
        <p:spPr>
          <a:xfrm>
            <a:off x="6035040" y="50292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0원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17"/>
          <p:cNvSpPr/>
          <p:nvPr/>
        </p:nvSpPr>
        <p:spPr>
          <a:xfrm>
            <a:off x="8595360" y="4572000"/>
            <a:ext cx="2286000" cy="1280160"/>
          </a:xfrm>
          <a:prstGeom prst="rect">
            <a:avLst/>
          </a:prstGeom>
          <a:solidFill>
            <a:srgbClr val="1C2128"/>
          </a:solidFill>
          <a:ln cap="flat" cmpd="sng" w="12700">
            <a:solidFill>
              <a:srgbClr val="30363D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3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17"/>
          <p:cNvSpPr/>
          <p:nvPr/>
        </p:nvSpPr>
        <p:spPr>
          <a:xfrm>
            <a:off x="8595360" y="4663440"/>
            <a:ext cx="2286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49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49E"/>
                </a:solidFill>
                <a:latin typeface="Calibri"/>
                <a:ea typeface="Calibri"/>
                <a:cs typeface="Calibri"/>
                <a:sym typeface="Calibri"/>
              </a:rPr>
              <a:t>자동화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17"/>
          <p:cNvSpPr/>
          <p:nvPr/>
        </p:nvSpPr>
        <p:spPr>
          <a:xfrm>
            <a:off x="8595360" y="5029200"/>
            <a:ext cx="2286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622A"/>
              </a:buClr>
              <a:buSzPts val="2000"/>
              <a:buFont typeface="Arial Black"/>
              <a:buNone/>
            </a:pPr>
            <a:r>
              <a:rPr b="1" i="0" lang="en-US" sz="2000" u="none" cap="none" strike="noStrike">
                <a:solidFill>
                  <a:srgbClr val="E8622A"/>
                </a:solidFill>
                <a:latin typeface="Arial Black"/>
                <a:ea typeface="Arial Black"/>
                <a:cs typeface="Arial Black"/>
                <a:sym typeface="Arial Black"/>
              </a:rPr>
              <a:t>완료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0E13"/>
          </a:solidFill>
          <a:ln cap="flat" cmpd="sng" w="12700">
            <a:solidFill>
              <a:srgbClr val="0A0E1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1" name="Google Shape;761;p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84F5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484F58"/>
                </a:solidFill>
                <a:latin typeface="Calibri"/>
                <a:ea typeface="Calibri"/>
                <a:cs typeface="Calibri"/>
                <a:sym typeface="Calibri"/>
              </a:rPr>
              <a:t>PromptLab  |  서인 (PICTORY-droid)  |  2026.04.19  |  promptlab.io.kr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